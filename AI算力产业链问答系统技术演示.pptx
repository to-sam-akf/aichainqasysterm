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533400" y="4000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TECHNICAL DEMO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990600"/>
            <a:ext cx="6477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9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AI 算力产业链问答系统</a:t>
            </a:r>
            <a:endParaRPr sz="292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695450"/>
            <a:ext cx="7239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从年报、研报、行业白皮书和开放技术规范中抽取证据，构建知识图谱与投研 Claim 层，再用 GraphRAG 约束 LLM 回答。</a:t>
            </a:r>
            <a:endParaRPr sz="13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191500" y="990600"/>
            <a:ext cx="2952750" cy="2571750"/>
          </a:xfrm>
          <a:prstGeom prst="rect">
            <a:avLst/>
          </a:prstGeom>
          <a:solidFill>
            <a:srgbClr val="F5F5F5"/>
          </a:solidFill>
          <a:ln w="9525">
            <a:solidFill>
              <a:srgbClr val="BDBDBD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458200" y="12192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3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证据工程主线</a:t>
            </a:r>
            <a:endParaRPr sz="13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91550" y="15811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PDF / metadata</a:t>
            </a:r>
            <a:endParaRPr sz="1050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420350" y="1695450"/>
            <a:ext cx="323850" cy="13335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91550" y="200977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LLM extraction</a:t>
            </a:r>
            <a:endParaRPr sz="1050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420350" y="2124075"/>
            <a:ext cx="323850" cy="13335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91550" y="24384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Curated KG + Claims</a:t>
            </a:r>
            <a:endParaRPr sz="1050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20350" y="2552700"/>
            <a:ext cx="323850" cy="13335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591550" y="286702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Evidence Pack</a:t>
            </a:r>
            <a:endParaRPr sz="1050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420350" y="2981325"/>
            <a:ext cx="323850" cy="13335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91550" y="32004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LLM Answer</a:t>
            </a:r>
            <a:endParaRPr sz="1050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3714750"/>
            <a:ext cx="10620375" cy="9525"/>
          </a:xfrm>
          <a:prstGeom prst="rect">
            <a:avLst/>
          </a:prstGeom>
          <a:solidFill>
            <a:srgbClr val="E7E7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40005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当前构建产物</a:t>
            </a:r>
            <a:endParaRPr sz="112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4457700"/>
            <a:ext cx="1428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64</a:t>
            </a:r>
            <a:endParaRPr sz="232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2925" y="49149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source records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476500" y="4457700"/>
            <a:ext cx="1619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6,881</a:t>
            </a:r>
            <a:endParaRPr sz="232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486025" y="491490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curated entities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686300" y="4457700"/>
            <a:ext cx="1762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10,521</a:t>
            </a:r>
            <a:endParaRPr sz="232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695825" y="4914900"/>
            <a:ext cx="17621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curated relations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48500" y="4457700"/>
            <a:ext cx="1714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11,591</a:t>
            </a:r>
            <a:endParaRPr sz="232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058025" y="49149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research claims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429750" y="445770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4,858</a:t>
            </a:r>
            <a:endParaRPr sz="232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439275" y="491490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RAG chunks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3400" y="6324600"/>
            <a:ext cx="11125200" cy="952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353800" y="6429375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01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-2-marker"/>
          <p:cNvSpPr>
            <a:spLocks noGrp="1"/>
          </p:cNvSpPr>
          <p:nvPr/>
        </p:nvSpPr>
        <p:spPr>
          <a:xfrm>
            <a:off x="533400" y="419100"/>
            <a:ext cx="285750" cy="190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/>
          <p:cNvSpPr>
            <a:spLocks noGrp="1"/>
          </p:cNvSpPr>
          <p:nvPr/>
        </p:nvSpPr>
        <p:spPr>
          <a:xfrm>
            <a:off x="914400" y="323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DATA FOUNDATION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742950"/>
            <a:ext cx="8953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数据层先统一来源可信度，再进入抽取与检索</a:t>
            </a:r>
            <a:endParaRPr sz="25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763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Manifest 记录来源、下载状态、SHA、页数和 source_tier；不同来源承担不同证据角色。</a:t>
            </a:r>
            <a:endParaRPr sz="12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238375"/>
            <a:ext cx="3810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Source mix</a:t>
            </a:r>
            <a:endParaRPr sz="1350" b="1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2905125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64</a:t>
            </a:r>
            <a:endParaRPr sz="30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8675" y="3362325"/>
            <a:ext cx="209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manifest source records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38385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年报 annual</a:t>
            </a:r>
            <a:endParaRPr sz="97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95525" y="3895725"/>
            <a:ext cx="1428750" cy="76200"/>
          </a:xfrm>
          <a:prstGeom prst="rect">
            <a:avLst/>
          </a:prstGeom>
          <a:solidFill>
            <a:srgbClr val="EFEF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295525" y="3895725"/>
            <a:ext cx="1428750" cy="7620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838575" y="38290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30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" y="42195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行业/技术 industry</a:t>
            </a:r>
            <a:endParaRPr sz="97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95525" y="4276725"/>
            <a:ext cx="1428750" cy="76200"/>
          </a:xfrm>
          <a:prstGeom prst="rect">
            <a:avLst/>
          </a:prstGeom>
          <a:solidFill>
            <a:srgbClr val="EFEF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295525" y="4276725"/>
            <a:ext cx="1143000" cy="7620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838575" y="42100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24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460057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券商 research</a:t>
            </a:r>
            <a:endParaRPr sz="97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95525" y="4657725"/>
            <a:ext cx="1428750" cy="76200"/>
          </a:xfrm>
          <a:prstGeom prst="rect">
            <a:avLst/>
          </a:prstGeom>
          <a:solidFill>
            <a:srgbClr val="EFEF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295525" y="4657725"/>
            <a:ext cx="476250" cy="7620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3838575" y="45910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38650" y="2247900"/>
            <a:ext cx="2857500" cy="1409700"/>
          </a:xfrm>
          <a:prstGeom prst="rect">
            <a:avLst/>
          </a:prstGeom>
          <a:solidFill>
            <a:srgbClr val="F5F5F5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572000" y="23622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上市公司白名单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572000" y="2628900"/>
            <a:ext cx="25908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30 家核心 A 股公司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别名、股票代码、产业链环节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用于抽取约束与核心公司过滤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38650" y="3962400"/>
            <a:ext cx="2857500" cy="1409700"/>
          </a:xfrm>
          <a:prstGeom prst="rect">
            <a:avLst/>
          </a:prstGeom>
          <a:solidFill>
            <a:srgbClr val="F5F5F5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572000" y="4076700"/>
            <a:ext cx="2590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主题覆盖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72000" y="4343400"/>
            <a:ext cx="25908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AI 服务器 / AI 芯片 / 光模块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液冷 / 数据中心 / 电源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PCB / 算力网络 / 国产算力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05750" y="2238375"/>
            <a:ext cx="333375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191500" y="2609850"/>
            <a:ext cx="247650" cy="13335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534400" y="25146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SOURCE TYPES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10550" y="2952750"/>
            <a:ext cx="2714625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company_annual_report      30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broker research             10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authority whitepaper          6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technical roadmap             5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technical paper               4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open / manual spec            6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benchmark / model report      3</a:t>
            </a:r>
            <a:endParaRPr sz="1125" b="0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210550" y="4772025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技术源用于补足机理、瓶颈和指标；年报/研报用于公司敞口、产品、指标和风险。</a:t>
            </a:r>
            <a:endParaRPr sz="9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33400" y="6324600"/>
            <a:ext cx="11125200" cy="952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1353800" y="6429375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02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-3-marker"/>
          <p:cNvSpPr>
            <a:spLocks noGrp="1"/>
          </p:cNvSpPr>
          <p:nvPr/>
        </p:nvSpPr>
        <p:spPr>
          <a:xfrm>
            <a:off x="533400" y="419100"/>
            <a:ext cx="285750" cy="190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/>
          <p:cNvSpPr>
            <a:spLocks noGrp="1"/>
          </p:cNvSpPr>
          <p:nvPr/>
        </p:nvSpPr>
        <p:spPr>
          <a:xfrm>
            <a:off x="914400" y="323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CURATED KG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742950"/>
            <a:ext cx="8953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图谱 schema 保留投研问题需要的结构关系</a:t>
            </a:r>
            <a:endParaRPr sz="25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763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公司、产品、技术、产业链、指标、风险和报告被统一为可查询关系；Neo4j 可用时增强，不可用时 CSV 自动降级。</a:t>
            </a:r>
            <a:endParaRPr sz="12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71650" y="2152650"/>
            <a:ext cx="7886700" cy="3238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209800" y="3200400"/>
            <a:ext cx="1428750" cy="742950"/>
          </a:xfrm>
          <a:prstGeom prst="rect">
            <a:avLst/>
          </a:prstGeom>
          <a:solidFill>
            <a:srgbClr val="0B0B0B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343150" y="3314700"/>
            <a:ext cx="1162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Company</a:t>
            </a:r>
            <a:endParaRPr sz="127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43150" y="3581400"/>
            <a:ext cx="1162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核心上市公司</a:t>
            </a:r>
            <a:endParaRPr sz="900" b="0">
              <a:solidFill>
                <a:srgbClr val="E8E8E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00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30 nodes</a:t>
            </a:r>
            <a:endParaRPr sz="900" b="0">
              <a:solidFill>
                <a:srgbClr val="E8E8E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95750" y="2571750"/>
            <a:ext cx="13335" cy="232410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3562350"/>
            <a:ext cx="457200" cy="13335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095750" y="2705100"/>
            <a:ext cx="2038350" cy="1143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67425" y="26289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62450" y="2476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USES_TECHNOLOGY</a:t>
            </a:r>
            <a:endParaRPr sz="79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43650" y="2495550"/>
            <a:ext cx="2457450" cy="4381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257175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Technology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38900" y="2800350"/>
            <a:ext cx="22669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技术路线 / 关键能力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95750" y="3276600"/>
            <a:ext cx="2038350" cy="1143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67425" y="32004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362450" y="30480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HAS_PRODUCT</a:t>
            </a:r>
            <a:endParaRPr sz="79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43650" y="3067050"/>
            <a:ext cx="2457450" cy="4381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38900" y="314325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Product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38900" y="3371850"/>
            <a:ext cx="22669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产品与解决方案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95750" y="3848100"/>
            <a:ext cx="2038350" cy="1143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67425" y="37719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362450" y="3619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BELONGS_TO_CHAIN</a:t>
            </a:r>
            <a:endParaRPr sz="79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43650" y="3638550"/>
            <a:ext cx="2457450" cy="4381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438900" y="371475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ValueChainSegment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438900" y="3943350"/>
            <a:ext cx="22669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产业链环节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095750" y="4419600"/>
            <a:ext cx="2038350" cy="1143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67425" y="43434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362450" y="41910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HAS_METRIC</a:t>
            </a:r>
            <a:endParaRPr sz="79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43650" y="4210050"/>
            <a:ext cx="2457450" cy="4381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438900" y="428625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Metric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438900" y="4514850"/>
            <a:ext cx="22669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年份 / 数值 / 单位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4095750" y="4991100"/>
            <a:ext cx="2038350" cy="1143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067425" y="49149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4362450" y="476250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79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DISCLOSES_RISK</a:t>
            </a:r>
            <a:endParaRPr sz="79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43650" y="4781550"/>
            <a:ext cx="2457450" cy="4381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438900" y="4857750"/>
            <a:ext cx="2266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Risk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438900" y="5086350"/>
            <a:ext cx="2266950" cy="76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风险披露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095500" y="5505450"/>
            <a:ext cx="676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Report 节点和关系属性保留 source / page / section / source_tier，用于答案溯源。</a:t>
            </a:r>
            <a:endParaRPr sz="90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33400" y="2247900"/>
            <a:ext cx="9525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04850" y="2514600"/>
            <a:ext cx="6477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Nodes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6,881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704850" y="3429000"/>
            <a:ext cx="647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Edges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10,521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04850" y="4419600"/>
            <a:ext cx="647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Report</a:t>
            </a:r>
            <a:endParaRPr sz="12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12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61</a:t>
            </a:r>
            <a:endParaRPr sz="12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906000" y="2238375"/>
            <a:ext cx="1333500" cy="3314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0115550" y="25908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2,307</a:t>
            </a:r>
            <a:endParaRPr sz="16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0125075" y="29527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Product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0115550" y="33147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1,597</a:t>
            </a:r>
            <a:endParaRPr sz="16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125075" y="36766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Technology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115550" y="40386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1,592</a:t>
            </a:r>
            <a:endParaRPr sz="16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10125075" y="44005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HAS_METRIC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115550" y="4762500"/>
            <a:ext cx="876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1,447</a:t>
            </a:r>
            <a:endParaRPr sz="16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10125075" y="51244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ENABLES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33400" y="6324600"/>
            <a:ext cx="11125200" cy="952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1353800" y="6429375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03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-4-marker"/>
          <p:cNvSpPr>
            <a:spLocks noGrp="1"/>
          </p:cNvSpPr>
          <p:nvPr/>
        </p:nvSpPr>
        <p:spPr>
          <a:xfrm>
            <a:off x="533400" y="419100"/>
            <a:ext cx="285750" cy="190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/>
          <p:cNvSpPr>
            <a:spLocks noGrp="1"/>
          </p:cNvSpPr>
          <p:nvPr/>
        </p:nvSpPr>
        <p:spPr>
          <a:xfrm>
            <a:off x="914400" y="323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EXTRACTION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742950"/>
            <a:ext cx="8953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只负责抽取候选知识，入库前受 schema 与证据约束</a:t>
            </a:r>
            <a:endParaRPr sz="25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抽取结果必须是严格 JSON，每条关系保留 evidence/source/page；随后派生为 Claim、EvidenceSpan 和 Segment Dossier。</a:t>
            </a:r>
            <a:endParaRPr sz="12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2552700"/>
            <a:ext cx="1409700" cy="9906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Text Chunk</a:t>
            </a:r>
            <a:endParaRPr sz="10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857500"/>
            <a:ext cx="1219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parsed page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section context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33600" y="3038475"/>
            <a:ext cx="133350" cy="15240"/>
          </a:xfrm>
          <a:prstGeom prst="rect">
            <a:avLst/>
          </a:prstGeom>
          <a:solidFill>
            <a:srgbClr val="808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257425" y="2971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675" b="0">
              <a:solidFill>
                <a:srgbClr val="80808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57450" y="2552700"/>
            <a:ext cx="1409700" cy="9906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55270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Prompt</a:t>
            </a:r>
            <a:endParaRPr sz="10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52700" y="2857500"/>
            <a:ext cx="1219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entity / relation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white-list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943350" y="3038475"/>
            <a:ext cx="133350" cy="15240"/>
          </a:xfrm>
          <a:prstGeom prst="rect">
            <a:avLst/>
          </a:prstGeom>
          <a:solidFill>
            <a:srgbClr val="808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67175" y="2971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675" b="0">
              <a:solidFill>
                <a:srgbClr val="80808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267200" y="2552700"/>
            <a:ext cx="1409700" cy="9906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36245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Strict JSON</a:t>
            </a:r>
            <a:endParaRPr sz="10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62450" y="2857500"/>
            <a:ext cx="1219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entities[]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relations[]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753100" y="3038475"/>
            <a:ext cx="133350" cy="15240"/>
          </a:xfrm>
          <a:prstGeom prst="rect">
            <a:avLst/>
          </a:prstGeom>
          <a:solidFill>
            <a:srgbClr val="808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876925" y="2971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675" b="0">
              <a:solidFill>
                <a:srgbClr val="80808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76950" y="2552700"/>
            <a:ext cx="1409700" cy="9906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17220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Sanitize</a:t>
            </a:r>
            <a:endParaRPr sz="10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72200" y="2857500"/>
            <a:ext cx="1219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schema check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relation signature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62850" y="3038475"/>
            <a:ext cx="133350" cy="15240"/>
          </a:xfrm>
          <a:prstGeom prst="rect">
            <a:avLst/>
          </a:prstGeom>
          <a:solidFill>
            <a:srgbClr val="808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86675" y="2971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675" b="0">
              <a:solidFill>
                <a:srgbClr val="80808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86700" y="2552700"/>
            <a:ext cx="1409700" cy="9906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98195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Curated KG</a:t>
            </a:r>
            <a:endParaRPr sz="10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81950" y="2857500"/>
            <a:ext cx="1219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auto review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source tier</a:t>
            </a:r>
            <a:endParaRPr sz="82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372600" y="3038475"/>
            <a:ext cx="133350" cy="15240"/>
          </a:xfrm>
          <a:prstGeom prst="rect">
            <a:avLst/>
          </a:prstGeom>
          <a:solidFill>
            <a:srgbClr val="808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496425" y="2971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675" b="0">
                <a:solidFill>
                  <a:srgbClr val="80808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675" b="0">
              <a:solidFill>
                <a:srgbClr val="80808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696450" y="2552700"/>
            <a:ext cx="1409700" cy="990600"/>
          </a:xfrm>
          <a:prstGeom prst="rect">
            <a:avLst/>
          </a:prstGeom>
          <a:solidFill>
            <a:srgbClr val="0B0B0B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791700" y="2628900"/>
            <a:ext cx="1219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Claim Layer</a:t>
            </a:r>
            <a:endParaRPr sz="105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791700" y="2857500"/>
            <a:ext cx="1219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claim + evidence</a:t>
            </a:r>
            <a:endParaRPr sz="825" b="0">
              <a:solidFill>
                <a:srgbClr val="E8E8E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825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E8E8E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segment dossier</a:t>
            </a:r>
            <a:endParaRPr sz="825" b="0">
              <a:solidFill>
                <a:srgbClr val="E8E8E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6750" y="4095750"/>
            <a:ext cx="4333875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14400" y="4333875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Claim schema</a:t>
            </a:r>
            <a:endParaRPr sz="1200" b="1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" y="4667250"/>
            <a:ext cx="3714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claim_type / topic / companies / exposure_level</a:t>
            </a:r>
            <a:endParaRPr sz="97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97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mechanism / direction / metric / value / unit</a:t>
            </a:r>
            <a:endParaRPr sz="97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97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source_report_id / page / evidence_span / confidence</a:t>
            </a:r>
            <a:endParaRPr sz="97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619750" y="4095750"/>
            <a:ext cx="56197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05500" y="43338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Claim distribution</a:t>
            </a:r>
            <a:endParaRPr sz="1200" b="1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905500" y="4762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5,777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905500" y="5143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company_exposure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39000" y="4762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2,162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239000" y="5143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indicator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477250" y="4762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1,090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77250" y="5143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mechanism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715500" y="476250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0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1,074</a:t>
            </a:r>
            <a:endParaRPr sz="150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715500" y="51435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supply_chain</a:t>
            </a:r>
            <a:endParaRPr sz="7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85800" y="5619750"/>
            <a:ext cx="981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关键约束：技术规范/论文默认不映射到公司，除非原文明确出现核心 A 股公司，降低“全球技术结论误投射到上市公司”的噪声。</a:t>
            </a:r>
            <a:endParaRPr sz="10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33400" y="6324600"/>
            <a:ext cx="11125200" cy="952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1353800" y="6429375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04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-5-marker"/>
          <p:cNvSpPr>
            <a:spLocks noGrp="1"/>
          </p:cNvSpPr>
          <p:nvPr/>
        </p:nvSpPr>
        <p:spPr>
          <a:xfrm>
            <a:off x="533400" y="419100"/>
            <a:ext cx="285750" cy="190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/>
          <p:cNvSpPr>
            <a:spLocks noGrp="1"/>
          </p:cNvSpPr>
          <p:nvPr/>
        </p:nvSpPr>
        <p:spPr>
          <a:xfrm>
            <a:off x="914400" y="323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ONLINE QA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742950"/>
            <a:ext cx="8953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在线问答先构造证据包，再让 LLM 组织答案</a:t>
            </a:r>
            <a:endParaRPr sz="25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76375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QAEngine 同时检索图谱、原文 RAG 和投研 Claim/Dossier；最终 prompt 明确要求答案只使用 evidence pack。</a:t>
            </a:r>
            <a:endParaRPr sz="12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590800"/>
            <a:ext cx="1428750" cy="8382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667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User Question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895600"/>
            <a:ext cx="1238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多轮历史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可追问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571750" y="2590800"/>
            <a:ext cx="1428750" cy="8382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667000" y="2667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Contextualize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667000" y="2895600"/>
            <a:ext cx="1238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追问改写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history window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76750" y="2590800"/>
            <a:ext cx="1428750" cy="8382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572000" y="2667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QuestionPlan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72000" y="2895600"/>
            <a:ext cx="1238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公司 / 主题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答案类型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2133600"/>
            <a:ext cx="1619250" cy="7429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22098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Graph Search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4384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Neo4j or CSV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pseudo Cypher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81750" y="3028950"/>
            <a:ext cx="1619250" cy="7429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1051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Local RAG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333375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Jieba + BM25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source priority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81750" y="3924300"/>
            <a:ext cx="1619250" cy="7429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77000" y="4000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ResearchMemory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77000" y="4229100"/>
            <a:ext cx="1428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Claim + Dossier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focus terms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63000" y="2418715"/>
            <a:ext cx="1809750" cy="1200785"/>
          </a:xfrm>
          <a:prstGeom prst="rect">
            <a:avLst/>
          </a:prstGeom>
          <a:solidFill>
            <a:srgbClr val="0B0B0B"/>
          </a:solidFill>
          <a:ln w="9525">
            <a:solidFill>
              <a:srgbClr val="0B0B0B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896350" y="2628900"/>
            <a:ext cx="1543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Evidence Pack</a:t>
            </a:r>
            <a:endParaRPr sz="127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58250" y="2952750"/>
            <a:ext cx="1543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E6E6E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E6E6E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dedupe + rerank</a:t>
            </a:r>
            <a:endParaRPr sz="900" b="0">
              <a:solidFill>
                <a:srgbClr val="E6E6E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900" b="0">
                <a:solidFill>
                  <a:srgbClr val="E6E6E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E6E6E6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cards: graph / rag / claim</a:t>
            </a:r>
            <a:endParaRPr sz="900" b="0">
              <a:solidFill>
                <a:srgbClr val="E6E6E6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858250" y="4095750"/>
            <a:ext cx="1619250" cy="6667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953500" y="41719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Answer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53500" y="440055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只基于证据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禁止买卖建议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95500" y="3019425"/>
            <a:ext cx="361950" cy="1524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447925" y="29527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00500" y="3019425"/>
            <a:ext cx="361950" cy="1524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352925" y="29527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905500" y="3019425"/>
            <a:ext cx="361950" cy="1524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257925" y="29527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020050" y="2543175"/>
            <a:ext cx="628650" cy="1524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639175" y="24765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7777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77777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77777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20050" y="3438525"/>
            <a:ext cx="628650" cy="1524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639175" y="33718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7777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77777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77777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20050" y="4333875"/>
            <a:ext cx="628650" cy="1524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639175" y="42672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77777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77777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77777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667875" y="3686175"/>
            <a:ext cx="9525" cy="152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544050" y="36195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00000">
                    <a:alpha val="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00000">
                    <a:alpha val="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00000">
                  <a:alpha val="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639300" y="3619500"/>
            <a:ext cx="19050" cy="4762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572625" y="3981450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▼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23900" y="4476750"/>
            <a:ext cx="51054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71550" y="46863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B0B0B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0B0B"/>
                </a:solidFill>
                <a:latin typeface="Aptos Mono"/>
                <a:ea typeface="Aptos Mono"/>
                <a:cs typeface="Aptos Mono"/>
              </a:rPr>
              <a:t>Answer contract</a:t>
            </a:r>
            <a:endParaRPr sz="1125" b="1">
              <a:solidFill>
                <a:srgbClr val="0B0B0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971550" y="499110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05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核心判断 / 技术机理 / 产业传导 / 公司排序 / 领先指标 / 反证边界 / 证据</a:t>
            </a:r>
            <a:endParaRPr sz="105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66750" y="2038350"/>
            <a:ext cx="9906000" cy="9525"/>
          </a:xfrm>
          <a:prstGeom prst="rect">
            <a:avLst/>
          </a:prstGeom>
          <a:solidFill>
            <a:srgbClr val="E6E6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85800" y="5619750"/>
            <a:ext cx="781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不直接回答；它只在检索后的 evidence pack 上做归纳表达。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3400" y="6324600"/>
            <a:ext cx="11125200" cy="952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1353800" y="6429375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05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-6-marker"/>
          <p:cNvSpPr>
            <a:spLocks noGrp="1"/>
          </p:cNvSpPr>
          <p:nvPr/>
        </p:nvSpPr>
        <p:spPr>
          <a:xfrm>
            <a:off x="533400" y="419100"/>
            <a:ext cx="285750" cy="190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/>
          <p:cNvSpPr>
            <a:spLocks noGrp="1"/>
          </p:cNvSpPr>
          <p:nvPr/>
        </p:nvSpPr>
        <p:spPr>
          <a:xfrm>
            <a:off x="914400" y="3238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SYSTEM ARCHITECTURE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742950"/>
            <a:ext cx="8953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整体架构：离线证据工程 + 在线 Evidence Pack</a:t>
            </a:r>
            <a:endParaRPr sz="2550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5811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离线阶段负责把异构报告变成可审计知识资产；在线阶段负责检索、重排并约束 LLM 生成答案。</a:t>
            </a:r>
            <a:endParaRPr sz="1275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200025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171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Input Sources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42887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manifest / source tier</a:t>
            </a:r>
            <a:endParaRPr sz="82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743200"/>
            <a:ext cx="1962150" cy="9525"/>
          </a:xfrm>
          <a:prstGeom prst="rect">
            <a:avLst/>
          </a:prstGeom>
          <a:solidFill>
            <a:srgbClr val="DFDF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71850" y="200025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581400" y="2171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Offline Build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81400" y="242887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deterministic + LLM extraction</a:t>
            </a:r>
            <a:endParaRPr sz="82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81400" y="2743200"/>
            <a:ext cx="1962150" cy="9525"/>
          </a:xfrm>
          <a:prstGeom prst="rect">
            <a:avLst/>
          </a:prstGeom>
          <a:solidFill>
            <a:srgbClr val="DFDF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10300" y="200025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19850" y="2171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Online Retrieval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19850" y="242887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QAEngine runtime</a:t>
            </a:r>
            <a:endParaRPr sz="82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2743200"/>
            <a:ext cx="1962150" cy="9525"/>
          </a:xfrm>
          <a:prstGeom prst="rect">
            <a:avLst/>
          </a:prstGeom>
          <a:solidFill>
            <a:srgbClr val="DFDF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048750" y="2000250"/>
            <a:ext cx="23812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58300" y="2171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2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Answer Surface</a:t>
            </a:r>
            <a:endParaRPr sz="12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58300" y="2428875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React / evidence UI</a:t>
            </a:r>
            <a:endParaRPr sz="825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258300" y="2743200"/>
            <a:ext cx="1962150" cy="9525"/>
          </a:xfrm>
          <a:prstGeom prst="rect">
            <a:avLst/>
          </a:prstGeom>
          <a:solidFill>
            <a:srgbClr val="DFDF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0100" y="2990850"/>
            <a:ext cx="1847850" cy="5524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95350" y="30670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Annual reports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95350" y="32956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30 core A-share companies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0100" y="3695700"/>
            <a:ext cx="1847850" cy="5524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95350" y="377190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Broker research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5350" y="400050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industry chain / company view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4400550"/>
            <a:ext cx="1847850" cy="6667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95350" y="44767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Industry tech sources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470535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whitepaper / roadmap / spec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paper / benchmark / model report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638550" y="2971800"/>
            <a:ext cx="1847850" cy="4762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733800" y="304800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PDF parse + clean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733800" y="3276600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page text / section / chunk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638550" y="3562350"/>
            <a:ext cx="1847850" cy="5524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733800" y="36385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entity relation extraction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733800" y="38671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strict JSON + schema sanitizer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638550" y="4248150"/>
            <a:ext cx="1847850" cy="5524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733800" y="43243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Curated KG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733800" y="45529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entities.csv / relations.csv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Neo4j optional import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638550" y="4933950"/>
            <a:ext cx="1847850" cy="5524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3733800" y="50101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Research artifacts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733800" y="5238750"/>
            <a:ext cx="1657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claims / evidence spans / dossiers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477000" y="2971800"/>
            <a:ext cx="1847850" cy="4762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572250" y="304800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Question planner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572250" y="3276600"/>
            <a:ext cx="16573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company / topic / answer type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477000" y="3562350"/>
            <a:ext cx="1847850" cy="5334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572250" y="36385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Graph retrieval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572250" y="38671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Neo4j read query or CSV fallback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77000" y="4229100"/>
            <a:ext cx="1847850" cy="5334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572250" y="430530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RAG + ResearchMemory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572250" y="453390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BM25 chunks + Claim/Dossier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477000" y="4895850"/>
            <a:ext cx="1847850" cy="5334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572250" y="49720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Evidence ranker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572250" y="52006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dedupe / score / top cards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315450" y="3105150"/>
            <a:ext cx="1847850" cy="5905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410700" y="31813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Evidence Pack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9410700" y="34099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graph records + claims + snippets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315450" y="3981450"/>
            <a:ext cx="1847850" cy="62865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9410700" y="40576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LLM generation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410700" y="428625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answer from evidence only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no target price / no trading advice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9315450" y="4895850"/>
            <a:ext cx="1847850" cy="533400"/>
          </a:xfrm>
          <a:prstGeom prst="rect">
            <a:avLst/>
          </a:prstGeom>
          <a:solidFill>
            <a:srgbClr val="F5F5F5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9410700" y="49720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75" b="1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Frontend</a:t>
            </a:r>
            <a:endParaRPr sz="975" b="1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9410700" y="5200650"/>
            <a:ext cx="1657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790" b="0">
                <a:solidFill>
                  <a:srgbClr val="5F636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answer / evidence drawer / subgraph / diagnostics</a:t>
            </a:r>
            <a:endParaRPr sz="790" b="0">
              <a:solidFill>
                <a:srgbClr val="5F636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2724150" y="4048125"/>
            <a:ext cx="533400" cy="1524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3248025" y="39814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562600" y="4410075"/>
            <a:ext cx="533400" cy="1524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6086475" y="43434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401050" y="4410075"/>
            <a:ext cx="533400" cy="1524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924925" y="43434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900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▶</a:t>
            </a:r>
            <a:endParaRPr sz="900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4552950" y="4800600"/>
            <a:ext cx="13335" cy="15240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4486275" y="48196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▼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391400" y="4762500"/>
            <a:ext cx="13335" cy="133350"/>
          </a:xfrm>
          <a:prstGeom prst="rect">
            <a:avLst/>
          </a:prstGeom>
          <a:solidFill>
            <a:srgbClr val="0B0B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324725" y="4772025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825" b="0">
                <a:solidFill>
                  <a:srgbClr val="0B0B0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▼</a:t>
            </a:r>
            <a:endParaRPr sz="825" b="0">
              <a:solidFill>
                <a:srgbClr val="0B0B0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533400" y="5962650"/>
            <a:ext cx="10610850" cy="285750"/>
          </a:xfrm>
          <a:prstGeom prst="rect">
            <a:avLst/>
          </a:prstGeom>
          <a:solidFill>
            <a:srgbClr val="0B0B0B"/>
          </a:solidFill>
          <a:ln w="0">
            <a:solidFill>
              <a:srgbClr val="0B0B0B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800100" y="60198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Design principle: facts are extracted and cited offline; answers are composed online from a bounded evidence pack.</a:t>
            </a:r>
            <a:endParaRPr sz="900" b="0">
              <a:solidFill>
                <a:srgbClr val="FFFF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33400" y="6324600"/>
            <a:ext cx="11125200" cy="952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1353800" y="6429375"/>
            <a:ext cx="304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F6368"/>
                </a:solidFill>
                <a:latin typeface="Aptos Mono"/>
                <a:ea typeface="Aptos Mono"/>
                <a:cs typeface="Aptos Mono"/>
              </a:rPr>
              <a:t>06</a:t>
            </a:r>
            <a:endParaRPr sz="900" b="0">
              <a:solidFill>
                <a:srgbClr val="5F6368"/>
              </a:solidFill>
              <a:latin typeface="Aptos Mono"/>
              <a:ea typeface="Aptos Mono"/>
              <a:cs typeface="Apto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3430</Words>
  <Application>WPS 演示</Application>
  <PresentationFormat>Converted Presentation</PresentationFormat>
  <Paragraphs>411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Aptos Mono</vt:lpstr>
      <vt:lpstr>Cascadia Mono SemiLight</vt:lpstr>
      <vt:lpstr>Microsoft YaHei UI</vt:lpstr>
      <vt:lpstr>微软雅黑</vt:lpstr>
      <vt:lpstr>Arial Unicode MS</vt:lpstr>
      <vt:lpstr>Calibri</vt:lpstr>
      <vt:lpstr>Aptos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飞翔的比萨</cp:lastModifiedBy>
  <cp:revision>1</cp:revision>
  <dcterms:created xsi:type="dcterms:W3CDTF">2026-05-18T16:50:09Z</dcterms:created>
  <dcterms:modified xsi:type="dcterms:W3CDTF">2026-05-18T16:50:09Z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178AAAB5F6694402AF881394B61D7727_12</vt:lpwstr>
  </property>
</Properties>
</file>